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Доход ₪/мес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Мес 1</c:v>
                  </c:pt>
                  <c:pt idx="1">
                    <c:v>Мес 3</c:v>
                  </c:pt>
                  <c:pt idx="2">
                    <c:v>Мес 6</c:v>
                  </c:pt>
                  <c:pt idx="3">
                    <c:v>Мес 9</c:v>
                  </c:pt>
                  <c:pt idx="4">
                    <c:v>Мес 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1500</c:v>
                </c:pt>
                <c:pt idx="1">
                  <c:v>9450</c:v>
                </c:pt>
                <c:pt idx="2">
                  <c:v>32100</c:v>
                </c:pt>
                <c:pt idx="3">
                  <c:v>65000</c:v>
                </c:pt>
                <c:pt idx="4">
                  <c:v>109200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FlatFinderIL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Q3 2026</c:v>
                  </c:pt>
                  <c:pt idx="1">
                    <c:v>Q4 2026</c:v>
                  </c:pt>
                  <c:pt idx="2">
                    <c:v>Q1 2027</c:v>
                  </c:pt>
                  <c:pt idx="3">
                    <c:v>Q2 2027</c:v>
                  </c:pt>
                  <c:pt idx="4">
                    <c:v>Q3 2027</c:v>
                  </c:pt>
                  <c:pt idx="5">
                    <c:v>Q4 2027</c:v>
                  </c:pt>
                  <c:pt idx="6">
                    <c:v>Q1 2028</c:v>
                  </c:pt>
                  <c:pt idx="7">
                    <c:v>Q2 2028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60000</c:v>
                </c:pt>
                <c:pt idx="1">
                  <c:v>90000</c:v>
                </c:pt>
                <c:pt idx="2">
                  <c:v>109200</c:v>
                </c:pt>
                <c:pt idx="3">
                  <c:v>130000</c:v>
                </c:pt>
                <c:pt idx="4">
                  <c:v>155000</c:v>
                </c:pt>
                <c:pt idx="5">
                  <c:v>185000</c:v>
                </c:pt>
                <c:pt idx="6">
                  <c:v>220000</c:v>
                </c:pt>
                <c:pt idx="7">
                  <c:v>260000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CarsFinderIL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Q3 2026</c:v>
                  </c:pt>
                  <c:pt idx="1">
                    <c:v>Q4 2026</c:v>
                  </c:pt>
                  <c:pt idx="2">
                    <c:v>Q1 2027</c:v>
                  </c:pt>
                  <c:pt idx="3">
                    <c:v>Q2 2027</c:v>
                  </c:pt>
                  <c:pt idx="4">
                    <c:v>Q3 2027</c:v>
                  </c:pt>
                  <c:pt idx="5">
                    <c:v>Q4 2027</c:v>
                  </c:pt>
                  <c:pt idx="6">
                    <c:v>Q1 2028</c:v>
                  </c:pt>
                  <c:pt idx="7">
                    <c:v>Q2 2028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15000</c:v>
                </c:pt>
                <c:pt idx="2">
                  <c:v>35000</c:v>
                </c:pt>
                <c:pt idx="3">
                  <c:v>60000</c:v>
                </c:pt>
                <c:pt idx="4">
                  <c:v>85000</c:v>
                </c:pt>
                <c:pt idx="5">
                  <c:v>110000</c:v>
                </c:pt>
                <c:pt idx="6">
                  <c:v>140000</c:v>
                </c:pt>
                <c:pt idx="7">
                  <c:v>175000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JobFinderIL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Q3 2026</c:v>
                  </c:pt>
                  <c:pt idx="1">
                    <c:v>Q4 2026</c:v>
                  </c:pt>
                  <c:pt idx="2">
                    <c:v>Q1 2027</c:v>
                  </c:pt>
                  <c:pt idx="3">
                    <c:v>Q2 2027</c:v>
                  </c:pt>
                  <c:pt idx="4">
                    <c:v>Q3 2027</c:v>
                  </c:pt>
                  <c:pt idx="5">
                    <c:v>Q4 2027</c:v>
                  </c:pt>
                  <c:pt idx="6">
                    <c:v>Q1 2028</c:v>
                  </c:pt>
                  <c:pt idx="7">
                    <c:v>Q2 2028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10000</c:v>
                </c:pt>
                <c:pt idx="3">
                  <c:v>30000</c:v>
                </c:pt>
                <c:pt idx="4">
                  <c:v>55000</c:v>
                </c:pt>
                <c:pt idx="5">
                  <c:v>80000</c:v>
                </c:pt>
                <c:pt idx="6">
                  <c:v>110000</c:v>
                </c:pt>
                <c:pt idx="7">
                  <c:v>145000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54864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FinderIL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spc="8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11480" y="239572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871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недвижимости, авто и работы в Израиле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2286000" cy="402336"/>
          </a:xfrm>
          <a:prstGeom prst="rect">
            <a:avLst/>
          </a:prstGeom>
          <a:solidFill>
            <a:srgbClr val="F1F5F9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992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FlatFinderIL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999232"/>
            <a:ext cx="2286000" cy="402336"/>
          </a:xfrm>
          <a:prstGeom prst="rect">
            <a:avLst/>
          </a:prstGeom>
          <a:solidFill>
            <a:srgbClr val="F1F5F9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9992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CarsFinderIL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0" y="2999232"/>
            <a:ext cx="2286000" cy="402336"/>
          </a:xfrm>
          <a:prstGeom prst="rect">
            <a:avLst/>
          </a:prstGeom>
          <a:solidFill>
            <a:srgbClr val="F1F5F9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9992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JobFinderIL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99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БИЗНЕС-ПЛАН · 2026–2028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4599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flatfinder.co.il  ·  t.me/FlatFinderIL_bot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поиск жилья, авто и работы в Израиле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фрагментирован — нет единой русскоязычной платформы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2633472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50292" cy="3200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Недвижимость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322576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Объявления разбросаны по 50+ Telegram-каналам. Нет фильтров, нет алертов, нет единой базы. Репатрианты тратят недели на поиск жилья.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23317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13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09928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переездов/год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353312"/>
            <a:ext cx="2633472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353312"/>
            <a:ext cx="50292" cy="3200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2322576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Yad2 полностью на иврите. Русскоязычные покупатели не понимают интерфейс, боятся мошенников. Нет агрегатора на их языке.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3794760"/>
            <a:ext cx="23317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813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44568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 продаётся/год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80760" y="1353312"/>
            <a:ext cx="2633472" cy="3200400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1353312"/>
            <a:ext cx="50292" cy="3200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💼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26364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2322576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дорог. HeadHunter не работает в Израиле. Русскоязычные специалисты ищут работу через знакомых и устаревшие чаты.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794760"/>
            <a:ext cx="2331720" cy="566928"/>
          </a:xfrm>
          <a:prstGeom prst="rect">
            <a:avLst/>
          </a:prstGeom>
          <a:solidFill>
            <a:srgbClr val="EFF6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8130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79208" y="38587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русскоязычных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Один Telegram-бот на трёх языках (RU/EN/HE) решает все три проблемы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экосистема FinderIL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платформа — три вертикали, один бренд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828800"/>
            <a:ext cx="2011680" cy="2011680"/>
          </a:xfrm>
          <a:prstGeom prst="ellipse">
            <a:avLst/>
          </a:prstGeom>
          <a:solidFill>
            <a:srgbClr val="6D28D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2103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FinderIL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0292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81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FlatFinderIL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828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и покупка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недвижимости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" y="2468880"/>
            <a:ext cx="914400" cy="2194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468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2560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200400"/>
            <a:ext cx="50292" cy="1508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CarsFinderIL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и продажа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автомобилей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4297680"/>
            <a:ext cx="914400" cy="21945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2976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2560320" cy="1508760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194560"/>
            <a:ext cx="50292" cy="1508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JobFinderIL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работы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специалистов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3291840"/>
            <a:ext cx="914400" cy="2194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2918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4645152"/>
            <a:ext cx="18288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45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14600" y="4645152"/>
            <a:ext cx="18288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4645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4645152"/>
            <a:ext cx="18288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645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.co.il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29400" y="4645152"/>
            <a:ext cx="1828800" cy="329184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6451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.com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FlatFinderIL — Состояние сегодня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Работающий продукт · 5 000+ объявлений · 20 городов · PostgreSQL на Railway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84832" y="1261872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84832" y="1773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Городов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58184" y="1261872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58184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758184" y="1773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Языка (RU/EN/HE)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31536" y="1261872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31536" y="1773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 дохода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04888" y="1261872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04888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04888" y="17739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Telegram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Умный поиск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6517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фильтров: тип, район, город, комнаты, цена, парковка, бассейн, лифт, инфраструктура, фото, частник/агент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090672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40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Алерты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6517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 при появлении нового объявления по фильтру пользователя. Работают в фоне.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3090672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236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Маркетплейс услуг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5478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Перевозчики, клининг, упаковка. Триггерные лиды после закрытия сделки: до 310₪ с одного переезда.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986784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236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Кабинет агента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0" y="35478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публикация пакетами (1–безлимит), редактирование, статистика просмотров, закрытие сделок.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3986784"/>
            <a:ext cx="40233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33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Монетизация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44439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Stars · PayPlus карта · Криптовалюта. Подписки 19.9–39.9₪/нед–мес.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4133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4439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Дашборд: пользователи, объявления, доходы, лиды. API аналитики в реальном времени.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Бизнес-модель FlatFinderIL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независимых потока дохода — B2C подписки + B2B маркетплейс лидов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1920240" cy="3547872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Агенты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1208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70₪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1208" y="21214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объявление/мес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2423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объявление — 70₪/мес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880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объявлений — 300₪/мес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3337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объявлений — 550₪/мес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37947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Безлимит — 3 000₪/мес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32888" y="1325880"/>
            <a:ext cx="1920240" cy="3547872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32588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42616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Перевозчики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42616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70₪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42616" y="21214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подписка/мес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42616" y="2423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База в платформе — 70₪/мес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42616" y="2880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ТОП в городе — 100₪/нед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42616" y="3337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Пакет: база + ТОП ≈ 470₪/мес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54296" y="1325880"/>
            <a:ext cx="1920240" cy="3547872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54296" y="132588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64024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Клининг-лиды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64024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50₪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64024" y="21214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лид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4024" y="2423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Горячий лид (после переезда)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64024" y="2880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 3 компаний на лид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64024" y="3337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Макс. доход с лида — 150₪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64024" y="37947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Баланс: 100/200/500₪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75704" y="1325880"/>
            <a:ext cx="1920240" cy="3547872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75704" y="1325880"/>
            <a:ext cx="19202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141732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Упаковка-лиды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885432" y="171907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30₪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85432" y="212140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лид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85432" y="24231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Триггер: сразу после закрытия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85432" y="28803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 3 компаний на лид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885432" y="3337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Макс. доход с лида — 90₪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85432" y="37947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Задержка — 0 секунд ⚡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4626864"/>
            <a:ext cx="8321040" cy="38404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62686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Доход с одного переезда: Упаковка (90₪) + Клининг (150₪) + Агент (70₪)  =  до 310₪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Израиля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самых активных рынков недвижимости и труда на Ближнем Востоке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35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837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 Израиля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93976" y="1325880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3976" y="1435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93976" y="1837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Переездов в год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76472" y="1325880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76472" y="1435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76472" y="1837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Русскоязычных жителей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58968" y="1325880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58968" y="1435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458968" y="1837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vs. покупка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41464" y="1325880"/>
            <a:ext cx="150876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41464" y="1435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2.1T₪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41464" y="18379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 недвижимости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377440"/>
            <a:ext cx="411480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77440"/>
            <a:ext cx="50292" cy="2560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487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Пользователи (B2C)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8803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Репатрианты и мигранты — не знают рынка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337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Молодые семьи — переезжают раз в 1–3 года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Покупатели инвест. недвижимости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2519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🔸 Наёмные работники — ищут жильё при переезде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2377440"/>
            <a:ext cx="402336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377440"/>
            <a:ext cx="50292" cy="2560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Партнёры (B2B)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2880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Агенты по недвижимости — размещение объявлений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Перевозчики — подписка + ТОП-позиция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3794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Клининговые компании — горячие лиды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4251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🔹 Компании по упаковке — триггерные заявки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66344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Конкуренты: Yad2.co.il (иврит, нет RU) · Madlan (нет Telegram) · Facebook Groups (нет фильтров) — ни один не закрывает русскоязычный сегмент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прогноз — FlatFinderIL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Консервативный сценарий · CAC = 0 (органический рост через Telegram)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11480" y="132588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1325880"/>
          <a:ext cx="310896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566928"/>
                <a:gridCol w="566928"/>
                <a:gridCol w="603504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Мес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Активных польз.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Агентов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Перевозчиков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Клининг-лидов/мес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Доход/мес (₪)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~9 450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~32 100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~109 200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Доход/мес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~$2 550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~$8 700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~$29 500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11480" y="4407408"/>
            <a:ext cx="832104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4407408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безубыточности: </a:t>
            </a:r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 2–3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Break-even при 15 агентах + 30 лидах/мес  ·  </a:t>
            </a:r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ARR (мес 12): ~1.3M₪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F0FD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CarsFinderIL — Запуск Q4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покупки и продажи авто для русскоязычного рынка Израиля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 продаётся/год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80K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 цена авто ₪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Потенциальных пользователей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2084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Аналогов на русском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304288"/>
            <a:ext cx="2633472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304288"/>
            <a:ext cx="5029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Умный поиск авто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76072" y="270662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Марка, модель, год, пробег, цена, коробка, привод, объём двигателя. Парсинг Yad2Cars + частные Telegram-каналы.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304288"/>
            <a:ext cx="2633472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304288"/>
            <a:ext cx="5029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Добавить объявление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10712" y="270662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Частники и автосалоны. Платная публикация 49₪/мес или лид-модель для салонов. Фото обязательны.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2304288"/>
            <a:ext cx="2633472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0760" y="2304288"/>
            <a:ext cx="50292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5352" y="23957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Алерты на авто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45352" y="270662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при появлении авто по фильтру. Для пользователей бесплатно — источник трафика.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3538728"/>
            <a:ext cx="2633472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538728"/>
            <a:ext cx="5029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Кабинет автосалона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76072" y="394106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 от 10 объявлений. ТОП-размещение. CRM для заявок от покупателей. Email/Telegram уведомления.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3538728"/>
            <a:ext cx="2633472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6120" y="3538728"/>
            <a:ext cx="50292" cy="10972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10712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Сервис и запчасти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410712" y="394106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СТО и автозапчастей. Лиды для автосервисов (горячий момент — после покупки авто).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80760" y="3538728"/>
            <a:ext cx="2633472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3538728"/>
            <a:ext cx="5029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45352" y="3630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История цен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45352" y="3941064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AI-анализ рынка: справедливая цена, история продаж по модели, прогноз ликвидности.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Монетизация: объявления салонов (79₪/авто) + лиды для СТО (40₪) + ТОП-позиции (200₪/нед) · Прогноз мес 6: ~45 000₪/мес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78992"/>
            <a:ext cx="9144000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JobFinderIL — Запуск Q1 2027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поиска работы и подбора персонала для рынка Израиля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вакансий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Безработица среди новых репатриантов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5–15K₪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1772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Зарплата по рекомендации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1261872"/>
            <a:ext cx="19202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2084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Hi-Tech экспорт Израиля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286000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286000"/>
            <a:ext cx="5029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Поиск вакансий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2688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по профессии, городу, зарплате, графику. Вакансии на иврите и русском. Алерты на новые вакансии.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236976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236976"/>
            <a:ext cx="5029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Резюме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резюме прямо в боте (шаблоны). Отклик одной кнопкой. История откликов и статус.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187952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187952"/>
            <a:ext cx="5029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4261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Кабинет работодателя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6072" y="4590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вакансий (49₪/вакансия/мес). ATS: просмотр откликов, фильтрация, статусы кандидатов.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00600" y="2286000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286000"/>
            <a:ext cx="5029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6519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Агентства рекрутинга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26883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агентств (999₪/мес). Доступ к базе резюме. Экспорт в Excel. CRM для кандидатов.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3236976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00600" y="3236976"/>
            <a:ext cx="5029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65192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AI-подбор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5192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Автоматическая рекомендация вакансий на основе профиля. GPT-помощь с составлением резюме и cover letter.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187952"/>
            <a:ext cx="4160520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4187952"/>
            <a:ext cx="50292" cy="8412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4261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Курсы и обучение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65192" y="4590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Партнёрская программа с образовательными платформами. Реферальные комиссии 5–15% от стоимости курса.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FFFBE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Монетизация: вакансии (49₪/мес) + кабинет агентства (999₪/мес) + AI-подбор (199₪/мес) · Прогноз мес 6: ~60 000₪/мес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Веб-платформа и доменная стратегия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+ сайты + Mini App — омниканальное присутствие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71600"/>
            <a:ext cx="2633472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71600"/>
            <a:ext cx="50292" cy="28803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447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FlatFinderIL.com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7647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flatfinderil.co.il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20299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Международная + локальная аудитория. SEO на английском и русском. Карточки объявлений, поиск с фильтрами, карта.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76072" y="285292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Полный каталог объявлений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6072" y="318211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под Google IL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6072" y="351129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Регистрация агентов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6072" y="384048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для партнёров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371600"/>
            <a:ext cx="2633472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371600"/>
            <a:ext cx="50292" cy="2880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14447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CarsFinderIL.com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0712" y="17647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carsfinderil.co.il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0712" y="20299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Авто-вертикаль на отдельном домене. Интеграция с Yad2Cars. Фото-галерея, история цен, проверка VIN.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10712" y="285292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Каталог авто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10712" y="318211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Кабинет автосалона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10712" y="351129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Сравнение авто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0712" y="384048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Проверка истории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1371600"/>
            <a:ext cx="2633472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1371600"/>
            <a:ext cx="50292" cy="2880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144475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JobFinderIL.com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45352" y="17647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jobfinderil.co.il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45352" y="20299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HR-платформа. Вакансии и резюме на иврите и русском. Интеграция с LinkedIn. ATS для работодателей.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45352" y="285292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Поиск вакансий + резюме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45352" y="318211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ATS для работодателей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45352" y="351129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Профиль кандидата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45352" y="384048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Экспорт в PDF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389120"/>
            <a:ext cx="832104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" y="4389120"/>
            <a:ext cx="50292" cy="64008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462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Telegram Mini App  (WebApp)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017520" y="4462272"/>
            <a:ext cx="5577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Полнофункциональный интерфейс внутри Telegram — без перехода в браузер. Авторизация через Telegram, кнопка «Открыть» в боте. Работает на iOS и Android. Общая база данных с ботом.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Mini App — интерфейс внутри мессенджера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в боте → WebApp открывается прямо в Telegram, авторизация автоматическая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08960" y="1325880"/>
            <a:ext cx="2926080" cy="3657600"/>
          </a:xfrm>
          <a:prstGeom prst="roundRect">
            <a:avLst>
              <a:gd name="adj" fmla="val 6250"/>
            </a:avLst>
          </a:prstGeom>
          <a:solidFill>
            <a:srgbClr val="E2E8F0"/>
          </a:solidFill>
          <a:ln w="25400">
            <a:solidFill>
              <a:srgbClr val="6D2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46120" y="1572768"/>
            <a:ext cx="2651760" cy="31272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572768"/>
            <a:ext cx="2651760" cy="38404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157276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FlatFinderIL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029968"/>
            <a:ext cx="24688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202996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Тель-Авив, 2–3 комн, до 8000₪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37560" y="2450592"/>
            <a:ext cx="246888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514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3 комн · ₪6500 · Тель-Авив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3163824"/>
            <a:ext cx="246888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227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2.5 комн · ₪5200 · Бат-Ям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37560" y="3877056"/>
            <a:ext cx="2468880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39410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Honda Civic · 2019 · ₪62K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325880"/>
            <a:ext cx="246888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325880"/>
            <a:ext cx="5029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14264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Авторизация через Telegram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73736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не создаёт аккаунт — всё через Telegram ID. Безопасно и мгновенно.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569464"/>
            <a:ext cx="246888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2569464"/>
            <a:ext cx="5029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6700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Нативный UX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98094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кнопкой внутри чата. Работает на iOS и Android без установки приложения.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3813048"/>
            <a:ext cx="246888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813048"/>
            <a:ext cx="5029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913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Синхронизация с ботом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422452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Избранное, алерты и история — синхронизируются между ботом и Mini App в реальном времени.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63640" y="1325880"/>
            <a:ext cx="246888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1325880"/>
            <a:ext cx="5029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426464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Карта объявлений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173736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 карта с кластеризацией. Вид улицы и инфраструктура рядом.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2569464"/>
            <a:ext cx="246888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2569464"/>
            <a:ext cx="5029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2670048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Аналитика для агентов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298094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показов, просмотры, конверсии в реальном времени прямо в Mini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813048"/>
            <a:ext cx="2468880" cy="11155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3813048"/>
            <a:ext cx="50292" cy="11155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391363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Оплата внутри Telegram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4224528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Stars или карта через Telegram Payments. Без редиректов.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доходов — полная экосистема FinderIL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вертикали к Q2 2028 · Консервативный сценарий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11480" y="1325880"/>
          <a:ext cx="8321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931920"/>
            <a:ext cx="26334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9684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2062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90K · Cars: 15K · Jobs: —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4389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105K ₪/мес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46120" y="3931920"/>
            <a:ext cx="26334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39684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37560" y="42062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130K · Cars: 60K · Jobs: 30K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337560" y="4389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220K ₪/мес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80760" y="3931920"/>
            <a:ext cx="26334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2200" y="396849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42062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Flat: 260K · Cars: 175K · Jobs: 145K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72200" y="4389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580K ₪/мес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11480" y="477316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Q2 2028: ~6.9M₪/год  (~$1.9M)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Роадмап 2026–2028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Последовательное масштабирование: Flat → Cars → Jobs → Ecosystem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1106424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(сейчас)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554480" y="1325880"/>
            <a:ext cx="1106424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97480" y="1325880"/>
            <a:ext cx="1106424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0" y="1325880"/>
            <a:ext cx="1106424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83480" y="1325880"/>
            <a:ext cx="1106424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1106424" cy="4572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2027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69480" y="1325880"/>
            <a:ext cx="110642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13258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2028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1920240"/>
            <a:ext cx="2029968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920240"/>
            <a:ext cx="50292" cy="3017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 (сейчас)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6072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5 000+ объявлений, 20 городов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76072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Поиск, алерты, кабинет агента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6072" y="3136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Маркетплейс лидов (клининг/упаковка)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6072" y="3529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Фильтр частник/агент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6072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PostgreSQL + Railway deploy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" y="4315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Facebook page контент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87752" y="1920240"/>
            <a:ext cx="2029968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87752" y="1920240"/>
            <a:ext cx="50292" cy="3017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52344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— FlatFinderIL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52344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Yad2 парсер — рынок продажи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52344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Telegram Mini App v1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52344" y="3136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flatfinderil.co.il + flatfinderil.com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52344" y="3529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Платные объявления агентов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52344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WhatsApp уведомления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52344" y="4315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Маркетинг: Telegram-каналы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64024" y="1920240"/>
            <a:ext cx="2029968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64024" y="1920240"/>
            <a:ext cx="50292" cy="3017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28616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 — CarsFinderIL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28616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carsfinderil.co.il + .com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28616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Поиск авто: марка/модель/год/цена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28616" y="3136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Парсинг Yad2Cars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28616" y="3529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Кабинет автосалона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28616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История цен (AI)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28616" y="4315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Mini App: авто-вкладка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940296" y="1920240"/>
            <a:ext cx="2029968" cy="3017520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0296" y="1920240"/>
            <a:ext cx="50292" cy="3017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04888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 — JobFinderIL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04888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jobfinderil.co.il + .com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104888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Вакансии + резюме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104888" y="31363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ATS для работодателей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104888" y="35295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AI-подбор (GPT)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104888" y="39227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Партнёрство с курсами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104888" y="4315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Агентства рекрутинга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75488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2027: единый бренд FinderIL.com · Экосистема из 3 продуктов · Раунд инвестиций · Расширение на другие регионы (Кипр, Германия)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Конкурентные преимущества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FinderIL выигрывает в русскоязычном сегменте Израиля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265176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50292" cy="15727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44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Язык — барьер для конкурентов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81051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Yad2, Madlan, LinkedIn работают на иврите. 1.5M русскоязычных пользователей не охвачены. Мы единственные с полным RU/EN/HE интерфейсом.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353312"/>
            <a:ext cx="265176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64408" y="1353312"/>
            <a:ext cx="50292" cy="15727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444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Telegram-нативность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81051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нужен сайт или приложение. Бот работает там, где уже есть аудитория. Telegram — главный канал информации для русскоязычных в Израиле.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17336" y="1353312"/>
            <a:ext cx="265176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7336" y="1353312"/>
            <a:ext cx="50292" cy="15727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44475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Триггерные лиды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81928" y="1810512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знаем точный момент переезда. Конверсия горячего лида в 5–10× выше холодного. Клининговые компании платят 150₪ за лид, который невозможно получить в другом месте.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72384"/>
            <a:ext cx="265176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072384"/>
            <a:ext cx="50292" cy="157276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16382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Экосистемный эффект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" y="3529584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FlatFinder → CarseFinder → JobFinder. Один пользователь монетизируется трижды. Клиент ищет жильё → покупает авто → находит работу. CAC делится на 3 продукта.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64408" y="3072384"/>
            <a:ext cx="265176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64408" y="3072384"/>
            <a:ext cx="50292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316382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Омниканальность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529584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+ Mini App + Web .com + Web .co.il. Каждый канал привлекает свою аудиторию. SEO в Google + органика в Telegram = нулевой CAC.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17336" y="3072384"/>
            <a:ext cx="2651760" cy="1572768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17336" y="3072384"/>
            <a:ext cx="50292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3163824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Данные и аналитика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81928" y="3529584"/>
            <a:ext cx="2359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поиск, просмотр и сделка сохраняются. AI-аналитика рынка недвижимости и авто. Агенты платят за инсайты, которых нет нигде.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36576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FinderIL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Инвестиционное предложение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19072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874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40487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352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93522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4655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346557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+ Маркетинг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023360"/>
            <a:ext cx="8321040" cy="1371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114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t.me/FlatFinderIL_bot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flatfinderil.co.il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Израиль · Разработка на русском и иврите ·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411480"/>
            <a:ext cx="4114800" cy="950976"/>
          </a:xfrm>
          <a:prstGeom prst="rect">
            <a:avLst/>
          </a:prstGeom>
          <a:solidFill>
            <a:srgbClr val="F1F5F9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411480"/>
            <a:ext cx="50292" cy="9509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50292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742432" y="5303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42432" y="8229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Frontend, Mobile разработчики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490472"/>
            <a:ext cx="4114800" cy="950976"/>
          </a:xfrm>
          <a:prstGeom prst="rect">
            <a:avLst/>
          </a:prstGeom>
          <a:solidFill>
            <a:srgbClr val="F1F5F9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490472"/>
            <a:ext cx="50292" cy="9509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58191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42432" y="16093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42432" y="190195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Telegram-каналы, Google Ads, SEO, SMM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569464"/>
            <a:ext cx="4114800" cy="950976"/>
          </a:xfrm>
          <a:prstGeom prst="rect">
            <a:avLst/>
          </a:prstGeom>
          <a:solidFill>
            <a:srgbClr val="F1F5F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2569464"/>
            <a:ext cx="50292" cy="9509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2660904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5742432" y="26883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42432" y="298094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App, AI-функции, CRM, интеграции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648456"/>
            <a:ext cx="4114800" cy="950976"/>
          </a:xfrm>
          <a:prstGeom prst="rect">
            <a:avLst/>
          </a:prstGeom>
          <a:solidFill>
            <a:srgbClr val="F1F5F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48456"/>
            <a:ext cx="50292" cy="9509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739896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742432" y="37673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Операционные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42432" y="40599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Хостинг, домены, юридические услуги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4681728"/>
            <a:ext cx="41148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6817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Попробуйте бот прямо сейчас: t.me/FlatFinderIL_bot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FinderIL Ecosystem — Business Plan 2026</dc:title>
  <dc:subject>PptxGenJS Presentation</dc:subject>
  <dc:creator>FinderIL Team</dc:creator>
  <cp:lastModifiedBy>FinderIL Team</cp:lastModifiedBy>
  <cp:revision>1</cp:revision>
  <dcterms:created xsi:type="dcterms:W3CDTF">2026-05-25T10:16:50Z</dcterms:created>
  <dcterms:modified xsi:type="dcterms:W3CDTF">2026-05-25T10:16:50Z</dcterms:modified>
</cp:coreProperties>
</file>